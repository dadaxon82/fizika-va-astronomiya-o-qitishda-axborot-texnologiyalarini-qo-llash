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4A3B8"/>
                </a:solidFill>
                <a:latin typeface="Arial"/>
              </a:rPr>
              <a:t>Wei et al. (2022); Kojima et al. (2022)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Fizik Adekvatlik (%)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8FAF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Noaniq
(Vague)</c:v>
                  </c:pt>
                  <c:pt idx="1">
                    <c:v>Zero-Shot</c:v>
                  </c:pt>
                  <c:pt idx="2">
                    <c:v>Few-Shot</c:v>
                  </c:pt>
                  <c:pt idx="3">
                    <c:v>Chain-of-
Thought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62</c:v>
                </c:pt>
                <c:pt idx="2">
                  <c:v>78</c:v>
                </c:pt>
                <c:pt idx="3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8FAF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E293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E293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9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9-MODUL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Sun'iy Intellekt (AI) Bilan Kod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Generatsiyasi va Prompt-Muhandislik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Zero-Shot, Few-Shot va Chain-of-Thought strategiyalari; Google Antigravity AI avtomatik nazorati; fizika uchun professional prompt arxitekturasi.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869680" y="3749040"/>
            <a:ext cx="2926080" cy="2926080"/>
          </a:xfrm>
          <a:prstGeom prst="ellipse">
            <a:avLst/>
          </a:prstGeom>
          <a:ln w="1905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81160" y="4160520"/>
            <a:ext cx="2103120" cy="2103120"/>
          </a:xfrm>
          <a:prstGeom prst="ellipse">
            <a:avLst/>
          </a:prstGeom>
          <a:ln w="1905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4572000"/>
            <a:ext cx="1280160" cy="1280160"/>
          </a:xfrm>
          <a:prstGeom prst="ellipse">
            <a:avLst/>
          </a:prstGeom>
          <a:ln w="19050">
            <a:solidFill>
              <a:srgbClr val="FBBF24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04704" y="5084064"/>
            <a:ext cx="256032" cy="25603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Fizika va Astronomiya O'qitishda Axborot Texnologiyalari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MA'RUZA REJASI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Bosqichli AI Texnologik Konveyeri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83864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457200" cy="457200"/>
          </a:xfrm>
          <a:prstGeom prst="ellipse">
            <a:avLst/>
          </a:prstGeom>
          <a:solidFill>
            <a:srgbClr val="38BDF8">
              <a:alpha val="18000"/>
            </a:srgbClr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Diagnostika &amp; Reja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7744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MagicSchool AI: ZPD asosida 3 klasterli adaptiv trayektoriya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1600200"/>
            <a:ext cx="3483864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801368"/>
            <a:ext cx="457200" cy="457200"/>
          </a:xfrm>
          <a:prstGeom prst="ellipse">
            <a:avLst/>
          </a:prstGeom>
          <a:solidFill>
            <a:srgbClr val="34D399">
              <a:alpha val="18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53712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29784" y="178308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Sinovlari &amp; Qiyos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237744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 Sonnet: Zero-Shot, Few-Shot, Chain-of-Thought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6448" y="1600200"/>
            <a:ext cx="3483864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1801368"/>
            <a:ext cx="457200" cy="457200"/>
          </a:xfrm>
          <a:prstGeom prst="ellipse">
            <a:avLst/>
          </a:prstGeom>
          <a:solidFill>
            <a:srgbClr val="FBBF24">
              <a:alpha val="1800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57616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933688" y="178308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Natijalar Monitoringi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85048" y="237744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Antigravity AI: AST tahlil, energiya nazorati, Self-Refine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483864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950208"/>
            <a:ext cx="457200" cy="457200"/>
          </a:xfrm>
          <a:prstGeom prst="ellipse">
            <a:avLst/>
          </a:prstGeom>
          <a:solidFill>
            <a:srgbClr val="C084FC">
              <a:alpha val="18000"/>
            </a:srgbClr>
          </a:solidFill>
          <a:ln w="15875">
            <a:solidFill>
              <a:srgbClr val="C084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93192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Strukturasi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52628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&amp; Gemini 1.5 Pro: 5 elementli professional standart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52544" y="3749040"/>
            <a:ext cx="3483864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3712" y="3950208"/>
            <a:ext cx="457200" cy="457200"/>
          </a:xfrm>
          <a:prstGeom prst="ellipse">
            <a:avLst/>
          </a:prstGeom>
          <a:solidFill>
            <a:srgbClr val="F43F5E">
              <a:alpha val="18000"/>
            </a:srgbClr>
          </a:solidFill>
          <a:ln w="15875">
            <a:solidFill>
              <a:srgbClr val="F43F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53712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129784" y="393192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Shaxsiy Prompt-Kutubxona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452628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MagicSchool AI: 5 fizika bo'limi uchun 10 tayyor shablon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56448" y="3749040"/>
            <a:ext cx="3483864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57616" y="3950208"/>
            <a:ext cx="457200" cy="457200"/>
          </a:xfrm>
          <a:prstGeom prst="ellipse">
            <a:avLst/>
          </a:prstGeom>
          <a:solidFill>
            <a:srgbClr val="38BDF8">
              <a:alpha val="18000"/>
            </a:srgbClr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57616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933688" y="393192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Simulyator &amp; Manbalar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85048" y="452628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Prompt Workbench, diagnostika testi, APA-7 manbalar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1-BOSQICH — KOGNITIV DIAGNOSTIKA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MagicSchool AI: 3 Klasterli Adaptiv O'quv Trayektoriyasi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3384" cy="4160520"/>
          </a:xfrm>
          <a:prstGeom prst="roundRect">
            <a:avLst>
              <a:gd name="adj" fmla="val 2383"/>
            </a:avLst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47672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Klaster 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5000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Boshlang'ich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2904744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017520"/>
            <a:ext cx="29047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"Menga prujina kodi yoz" kabi qisqa, noaniq so'rov beruvchi talabalar.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80560"/>
            <a:ext cx="2904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Promptning 4 ustuni (Rol, Vazifa, Chegaralar, Format)ni o'rganish.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7784" y="1691640"/>
            <a:ext cx="3453384" cy="4160520"/>
          </a:xfrm>
          <a:prstGeom prst="roundRect">
            <a:avLst>
              <a:gd name="adj" fmla="val 2383"/>
            </a:avLst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2104" y="1947672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Klaster 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42104" y="235000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O'rta / Amaliyotchi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42104" y="2834640"/>
            <a:ext cx="2904744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42104" y="3017520"/>
            <a:ext cx="29047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tuzishni biladi, lekin energetik invariant va sonli barqarorlikni ifodalamaydi.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42104" y="4480560"/>
            <a:ext cx="2904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va Few-Shot bilan dinamik tizimlar kodini olish.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86928" y="1691640"/>
            <a:ext cx="3453384" cy="4160520"/>
          </a:xfrm>
          <a:prstGeom prst="roundRect">
            <a:avLst>
              <a:gd name="adj" fmla="val 2383"/>
            </a:avLst>
          </a:prstGeom>
          <a:solidFill>
            <a:srgbClr val="111827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61248" y="1947672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Klaster 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61248" y="235000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Ilg'or / Arxitektor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61248" y="2834640"/>
            <a:ext cx="2904744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61248" y="3017520"/>
            <a:ext cx="29047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Fizik tenglamalar va JS arxitekturasini chuqur tushunadigan tadqiqotchilar.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61248" y="4480560"/>
            <a:ext cx="2904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 agentli arxitektura va Antigravity AI avtomatik monitoringi.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2-BOSQICH — QIYOSIY TAJRIBA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Promptlash Strategiyalari: Fizik Adekvatlik Darajasi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78308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8388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Sintaktik To'g'rilik (AST)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→ 96%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909560" y="320040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8388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Chegaraviy Shartlar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→ 95% (MTV)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909560" y="461772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8388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Energiya Saqlanishi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5166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&gt;25% → &lt;0.1%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2-BOSQICH — ES6 KOD MISOLI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Snaryad Harakati: Noaniq va Aniq Prompt Natijasi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111827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Noaniq (Vague) — 24%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395728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"Menga snaryad otilishini Canvasda ko’rsatadigan JS kod yozib ber."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3520440"/>
            <a:ext cx="109728" cy="10972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 kuchlar yo'q — faqat analitik parabola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4087368"/>
            <a:ext cx="109728" cy="10972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995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Metr-piksel masshtabi yo'q — 0.1s da ekrandan chiqadi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654296"/>
            <a:ext cx="109728" cy="10972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45628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Chegara sharti yo'q — cheksiz tushib ketadi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Aniq (Structured) — 96%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92240" y="2331720"/>
            <a:ext cx="4846320" cy="1234440"/>
          </a:xfrm>
          <a:prstGeom prst="roundRect">
            <a:avLst>
              <a:gd name="adj" fmla="val 4444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239572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"Semi-implicit Euler; g=9.81, F_drag=-0.5ρC_dA|v|v, shamol F_wind; yerga urilganda e=0.7 bilan sakrasin."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37960" y="384048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3749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Kvadratik qarshilik kuchi to'g'ri integrallanadi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4407408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66560" y="43159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kadrda energiya balansi hisoblanadi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4974336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66560" y="488289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o'lchami o'zgarsa ham adaptiv saqlanadi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3-BOSQICH — AVTOMATIK NAZORAT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Antigravity AI: 4 Ustunli Kod Nazorati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7178" cy="2926080"/>
          </a:xfrm>
          <a:prstGeom prst="roundRect">
            <a:avLst>
              <a:gd name="adj" fmla="val 3206"/>
            </a:avLst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7909" y="2103120"/>
            <a:ext cx="548640" cy="548640"/>
          </a:xfrm>
          <a:prstGeom prst="ellipse">
            <a:avLst/>
          </a:prstGeom>
          <a:solidFill>
            <a:srgbClr val="38BDF8">
              <a:alpha val="18000"/>
            </a:srgbClr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57909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220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Statik AST Linter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29000"/>
            <a:ext cx="210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while(true), eval(), xavfli DOM murojaatlarini bloklaydi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34106" y="3154680"/>
            <a:ext cx="237744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3390138" y="1828800"/>
            <a:ext cx="2567178" cy="2926080"/>
          </a:xfrm>
          <a:prstGeom prst="roundRect">
            <a:avLst>
              <a:gd name="adj" fmla="val 3206"/>
            </a:avLst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99407" y="2103120"/>
            <a:ext cx="548640" cy="548640"/>
          </a:xfrm>
          <a:prstGeom prst="ellipse">
            <a:avLst/>
          </a:prstGeom>
          <a:solidFill>
            <a:srgbClr val="34D399">
              <a:alpha val="18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99407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73018" y="2834640"/>
            <a:ext cx="220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Fizik Invariantlar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18738" y="3429000"/>
            <a:ext cx="210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ΔE/E₀ &lt; 10⁻³, impuls saqlanishi, penetratsiya yo'qligi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75604" y="3154680"/>
            <a:ext cx="237744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6231636" y="1828800"/>
            <a:ext cx="2567178" cy="2926080"/>
          </a:xfrm>
          <a:prstGeom prst="roundRect">
            <a:avLst>
              <a:gd name="adj" fmla="val 3206"/>
            </a:avLst>
          </a:prstGeom>
          <a:solidFill>
            <a:srgbClr val="11182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40905" y="2103120"/>
            <a:ext cx="548640" cy="548640"/>
          </a:xfrm>
          <a:prstGeom prst="ellipse">
            <a:avLst/>
          </a:prstGeom>
          <a:solidFill>
            <a:srgbClr val="FBBF24">
              <a:alpha val="1800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40905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14516" y="2834640"/>
            <a:ext cx="220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Kadr Profayllari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60236" y="3429000"/>
            <a:ext cx="210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≤ 16.6ms, Object Pool bilan GC yukini kamaytirish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17102" y="3154680"/>
            <a:ext cx="237744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2" name="Shape 20"/>
          <p:cNvSpPr/>
          <p:nvPr/>
        </p:nvSpPr>
        <p:spPr>
          <a:xfrm>
            <a:off x="9073134" y="1828800"/>
            <a:ext cx="2567178" cy="2926080"/>
          </a:xfrm>
          <a:prstGeom prst="roundRect">
            <a:avLst>
              <a:gd name="adj" fmla="val 3206"/>
            </a:avLst>
          </a:prstGeom>
          <a:solidFill>
            <a:srgbClr val="111827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82403" y="2103120"/>
            <a:ext cx="548640" cy="548640"/>
          </a:xfrm>
          <a:prstGeom prst="ellipse">
            <a:avLst/>
          </a:prstGeom>
          <a:solidFill>
            <a:srgbClr val="C084FC">
              <a:alpha val="18000"/>
            </a:srgbClr>
          </a:solidFill>
          <a:ln w="15875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82403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256014" y="2834640"/>
            <a:ext cx="220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Self-Refine Loop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301734" y="3429000"/>
            <a:ext cx="210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 aniqlansa, avtomatik LLM'ga qayta yuborish (Reflexion)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194560" y="5074920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194560" y="50749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 barqaror, energiya saqlovchi, xavfsiz simulyatsiya kodi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4-BOSQICH — MUHANDISLIK STANDARTLARI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Elementli Professional Prompt Arxitekturasi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38BDF8">
              <a:alpha val="18000"/>
            </a:srgbClr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916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Yuklash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673352"/>
            <a:ext cx="7040880" cy="64008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6733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"Sen universitet professori, hisoblash fizikasi mutaxassisisan..."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33472"/>
            <a:ext cx="502920" cy="502920"/>
          </a:xfrm>
          <a:prstGeom prst="ellipse">
            <a:avLst/>
          </a:prstGeom>
          <a:solidFill>
            <a:srgbClr val="34D399">
              <a:alpha val="18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58775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 &amp; Maqsad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0" y="2569464"/>
            <a:ext cx="7040880" cy="64008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56946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 va amaliy maqsadni aniq bayon qilish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529584"/>
            <a:ext cx="502920" cy="502920"/>
          </a:xfrm>
          <a:prstGeom prst="ellipse">
            <a:avLst/>
          </a:prstGeom>
          <a:solidFill>
            <a:srgbClr val="FBBF24">
              <a:alpha val="1800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529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48386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Fizik Chegaralar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0" y="3465576"/>
            <a:ext cx="7040880" cy="64008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3465576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Differensial tenglama, chegaraviy shart, integratsiya usuli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425696"/>
            <a:ext cx="502920" cy="502920"/>
          </a:xfrm>
          <a:prstGeom prst="ellipse">
            <a:avLst/>
          </a:prstGeom>
          <a:solidFill>
            <a:srgbClr val="C084FC">
              <a:alpha val="18000"/>
            </a:srgbClr>
          </a:solidFill>
          <a:ln w="15875">
            <a:solidFill>
              <a:srgbClr val="C084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425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37997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Chiqish Formati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0" y="4361688"/>
            <a:ext cx="7040880" cy="64008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0600" y="4361688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ES6, class + update(dt)/render(ctx) metodlari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321808"/>
            <a:ext cx="502920" cy="502920"/>
          </a:xfrm>
          <a:prstGeom prst="ellipse">
            <a:avLst/>
          </a:prstGeom>
          <a:solidFill>
            <a:srgbClr val="F43F5E">
              <a:alpha val="18000"/>
            </a:srgbClr>
          </a:solidFill>
          <a:ln w="15875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527608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O'z-o'zini Tekshirish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0" y="5257800"/>
            <a:ext cx="7040880" cy="64008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00600" y="52578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Energiya, chegara, delta-time, sintaksis auditi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5-BOSQICH — METODIK XAZINA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Fizika Bo'limi Uchun 10 Tayyor Prompt Shabloni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98878" cy="2103120"/>
          </a:xfrm>
          <a:prstGeom prst="roundRect">
            <a:avLst>
              <a:gd name="adj" fmla="val 4117"/>
            </a:avLst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1998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26080"/>
            <a:ext cx="17245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Mexanika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337560"/>
            <a:ext cx="1724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Snaryad &amp; Prujina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21838" y="1783080"/>
            <a:ext cx="1998878" cy="2103120"/>
          </a:xfrm>
          <a:prstGeom prst="roundRect">
            <a:avLst>
              <a:gd name="adj" fmla="val 4117"/>
            </a:avLst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21838" y="2011680"/>
            <a:ext cx="1998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958998" y="2926080"/>
            <a:ext cx="17245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58998" y="3337560"/>
            <a:ext cx="1724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To'qnashuv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95037" y="1783080"/>
            <a:ext cx="1998878" cy="2103120"/>
          </a:xfrm>
          <a:prstGeom prst="roundRect">
            <a:avLst>
              <a:gd name="adj" fmla="val 4117"/>
            </a:avLst>
          </a:prstGeom>
          <a:solidFill>
            <a:srgbClr val="11182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95037" y="2011680"/>
            <a:ext cx="1998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5232197" y="2926080"/>
            <a:ext cx="17245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Termodinamika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232197" y="3337560"/>
            <a:ext cx="1724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 &amp; Issiqlik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68235" y="1783080"/>
            <a:ext cx="1998878" cy="2103120"/>
          </a:xfrm>
          <a:prstGeom prst="roundRect">
            <a:avLst>
              <a:gd name="adj" fmla="val 4117"/>
            </a:avLst>
          </a:prstGeom>
          <a:solidFill>
            <a:srgbClr val="111827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68235" y="2011680"/>
            <a:ext cx="1998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7505395" y="2926080"/>
            <a:ext cx="17245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Elektrodinamika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05395" y="3337560"/>
            <a:ext cx="1724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Kulon &amp; Lorents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41434" y="1783080"/>
            <a:ext cx="1998878" cy="2103120"/>
          </a:xfrm>
          <a:prstGeom prst="roundRect">
            <a:avLst>
              <a:gd name="adj" fmla="val 4117"/>
            </a:avLst>
          </a:prstGeom>
          <a:solidFill>
            <a:srgbClr val="111827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41434" y="2011680"/>
            <a:ext cx="1998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9778594" y="2926080"/>
            <a:ext cx="17245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Optika / Kvant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778594" y="3337560"/>
            <a:ext cx="1724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Difraksiya &amp; Bor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2519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shablon quyidagi standartga mos: </a:t>
            </a:r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→ Kontekst → Fizik Chegaralar → Chiqish Formati → Self-Refine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651760" y="5074920"/>
            <a:ext cx="685800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880360" y="507492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"2D fazoda turli massali sharlar to’qnashuvi uchun j = -(1+e)(v_rel·n)/(1/m1+1/m2) formulasi va MTV positional correction bilan JS dvigatelini yoz."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6-BOSQICH — JONLI LABORATORIYA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Canvas Prompt Workbench &amp; Live Code Sandbox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41148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Kod Muharriri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109728" cy="1097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4231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Tanlangan preset + rejimga mos ES6 kod avtomatik yuklanadi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154680"/>
            <a:ext cx="109728" cy="1097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063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 kodni jonli tahrirlashi mumkin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794760"/>
            <a:ext cx="109728" cy="1097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7033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“Kodni Ishga Tushirish” — real vaqtda sandboxda bajariladi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1737360"/>
            <a:ext cx="5303520" cy="41148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🪐 Canvas Sandbox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29400" y="251460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0" y="24231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stsenariy: Snaryad, Prujina, To'qnashuv, To'lqin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315468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3063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Tezlik vektorlari va traektoriya izi overleyi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29400" y="379476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0" y="37033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vaqtli HUD: FPS, Energiya, Tezlik, Invariant holati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7-BOSQICH — ILMIY MANBALAR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Adabiyotlar (APA 7th Edition)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32120" cy="1234440"/>
          </a:xfrm>
          <a:prstGeom prst="roundRect">
            <a:avLst>
              <a:gd name="adj" fmla="val 5185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White, J., et al. (2023). A Prompt Pattern Catalog to Enhance Prompt Engineering with ChatGPT. arXiv:2302.11382.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532120" cy="1234440"/>
          </a:xfrm>
          <a:prstGeom prst="roundRect">
            <a:avLst>
              <a:gd name="adj" fmla="val 5185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20040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Wei, J., et al. (2022). Chain-of-Thought Prompting Elicits Reasoning in LLMs. NeurIPS 2022.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5532120" cy="1234440"/>
          </a:xfrm>
          <a:prstGeom prst="roundRect">
            <a:avLst>
              <a:gd name="adj" fmla="val 5185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61772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Kojima, T., et al. (2022). Large Language Models are Zero-Shot Reasoners. NeurIPS 2022.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532120" cy="1234440"/>
          </a:xfrm>
          <a:prstGeom prst="roundRect">
            <a:avLst>
              <a:gd name="adj" fmla="val 5185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178308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Shinn, N., et al. (2023). Reflexion: Language Agents with Verbal Reinforcement Learning. NeurIPS 2023.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3200400"/>
            <a:ext cx="5532120" cy="1234440"/>
          </a:xfrm>
          <a:prstGeom prst="roundRect">
            <a:avLst>
              <a:gd name="adj" fmla="val 5185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320040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Halliday, D., Resnick, R., &amp; Walker, J. (2018). Fundamentals of Physics (11th ed.). Wiley.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4617720"/>
            <a:ext cx="5532120" cy="1234440"/>
          </a:xfrm>
          <a:prstGeom prst="roundRect">
            <a:avLst>
              <a:gd name="adj" fmla="val 5185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461772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Wieman, C. E., Adams, W. K., &amp; Perkins, K. K. (2010). PhET: Simulations That Enhance Learning. Science, 322(5902).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2026-09-20T17:53:19Z</dcterms:created>
  <dcterms:modified xsi:type="dcterms:W3CDTF">2026-09-20T17:53:19Z</dcterms:modified>
</cp:coreProperties>
</file>